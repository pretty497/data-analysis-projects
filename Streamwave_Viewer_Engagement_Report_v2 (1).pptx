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>
        <p:scale>
          <a:sx n="93" d="100"/>
          <a:sy n="93" d="100"/>
        </p:scale>
        <p:origin x="544" y="-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User\Documents\Data%20Analytics\Amdari\Projects\StreamWave%20Entertainment\Streamwave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0A2E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A0A2E"/>
                </a:solidFill>
                <a:latin typeface="Arial"/>
              </a:rPr>
              <a:t>Gender Distribution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7AE-4306-9C13-ACBDC9C692BF}"/>
              </c:ext>
            </c:extLst>
          </c:dPt>
          <c:dPt>
            <c:idx val="1"/>
            <c:bubble3D val="0"/>
            <c:spPr>
              <a:solidFill>
                <a:srgbClr val="4C2C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7AE-4306-9C13-ACBDC9C692B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7AE-4306-9C13-ACBDC9C692B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7AE-4306-9C13-ACBDC9C692B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</c:v>
                </c:pt>
                <c:pt idx="1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7AE-4306-9C13-ACBDC9C692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0A2E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A0A2E"/>
                </a:solidFill>
                <a:latin typeface="Arial"/>
              </a:rPr>
              <a:t>Users by Subscription Tier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1B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476-44C5-894D-865A86E3FA5D}"/>
              </c:ext>
            </c:extLst>
          </c:dPt>
          <c:dPt>
            <c:idx val="1"/>
            <c:bubble3D val="0"/>
            <c:spPr>
              <a:solidFill>
                <a:srgbClr val="4C2C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476-44C5-894D-865A86E3FA5D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476-44C5-894D-865A86E3FA5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476-44C5-894D-865A86E3FA5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476-44C5-894D-865A86E3FA5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476-44C5-894D-865A86E3FA5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Basic</c:v>
                </c:pt>
                <c:pt idx="1">
                  <c:v>Standard</c:v>
                </c:pt>
                <c:pt idx="2">
                  <c:v>Premium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35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76-44C5-894D-865A86E3FA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 Share %</c:v>
                </c:pt>
              </c:strCache>
            </c:strRef>
          </c:tx>
          <c:spPr>
            <a:solidFill>
              <a:srgbClr val="E8D5F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01A-4045-8753-9E3C362BEAEF}"/>
              </c:ext>
            </c:extLst>
          </c:dPt>
          <c:dPt>
            <c:idx val="1"/>
            <c:invertIfNegative val="0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01A-4045-8753-9E3C362BEAEF}"/>
              </c:ext>
            </c:extLst>
          </c:dPt>
          <c:dPt>
            <c:idx val="2"/>
            <c:invertIfNegative val="0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01A-4045-8753-9E3C362BEAEF}"/>
              </c:ext>
            </c:extLst>
          </c:dPt>
          <c:dPt>
            <c:idx val="3"/>
            <c:invertIfNegative val="0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01A-4045-8753-9E3C362BEAEF}"/>
              </c:ext>
            </c:extLst>
          </c:dPt>
          <c:dPt>
            <c:idx val="4"/>
            <c:invertIfNegative val="0"/>
            <c:bubble3D val="0"/>
            <c:spPr>
              <a:solidFill>
                <a:srgbClr val="4C2C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01A-4045-8753-9E3C362BEAEF}"/>
              </c:ext>
            </c:extLst>
          </c:dPt>
          <c:dPt>
            <c:idx val="5"/>
            <c:invertIfNegative val="0"/>
            <c:bubble3D val="0"/>
            <c:spPr>
              <a:solidFill>
                <a:srgbClr val="4C2C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01A-4045-8753-9E3C362BEAEF}"/>
              </c:ext>
            </c:extLst>
          </c:dPt>
          <c:dPt>
            <c:idx val="6"/>
            <c:invertIfNegative val="0"/>
            <c:bubble3D val="0"/>
            <c:spPr>
              <a:solidFill>
                <a:srgbClr val="4C2C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01A-4045-8753-9E3C362BEAEF}"/>
              </c:ext>
            </c:extLst>
          </c:dPt>
          <c:dPt>
            <c:idx val="7"/>
            <c:invertIfNegative val="0"/>
            <c:bubble3D val="0"/>
            <c:spPr>
              <a:solidFill>
                <a:srgbClr val="2D1B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901A-4045-8753-9E3C362BEAEF}"/>
              </c:ext>
            </c:extLst>
          </c:dPt>
          <c:dPt>
            <c:idx val="8"/>
            <c:invertIfNegative val="0"/>
            <c:bubble3D val="0"/>
            <c:spPr>
              <a:solidFill>
                <a:srgbClr val="2D1B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901A-4045-8753-9E3C362BEAEF}"/>
              </c:ext>
            </c:extLst>
          </c:dPt>
          <c:dPt>
            <c:idx val="9"/>
            <c:invertIfNegative val="0"/>
            <c:bubble3D val="0"/>
            <c:spPr>
              <a:solidFill>
                <a:srgbClr val="2D1B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901A-4045-8753-9E3C362BEAE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A0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Thriller</c:v>
                </c:pt>
                <c:pt idx="1">
                  <c:v>Biography</c:v>
                </c:pt>
                <c:pt idx="2">
                  <c:v>Musical</c:v>
                </c:pt>
                <c:pt idx="3">
                  <c:v>Horror</c:v>
                </c:pt>
                <c:pt idx="4">
                  <c:v>Kids</c:v>
                </c:pt>
                <c:pt idx="5">
                  <c:v>Action</c:v>
                </c:pt>
                <c:pt idx="6">
                  <c:v>Sci-Fi</c:v>
                </c:pt>
                <c:pt idx="7">
                  <c:v>Documentary</c:v>
                </c:pt>
                <c:pt idx="8">
                  <c:v>Comedy</c:v>
                </c:pt>
                <c:pt idx="9">
                  <c:v>Drama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0.08</c:v>
                </c:pt>
                <c:pt idx="2">
                  <c:v>0.1</c:v>
                </c:pt>
                <c:pt idx="3">
                  <c:v>0.51</c:v>
                </c:pt>
                <c:pt idx="4">
                  <c:v>11.09</c:v>
                </c:pt>
                <c:pt idx="5">
                  <c:v>12.99</c:v>
                </c:pt>
                <c:pt idx="6">
                  <c:v>14.51</c:v>
                </c:pt>
                <c:pt idx="7">
                  <c:v>17.2</c:v>
                </c:pt>
                <c:pt idx="8">
                  <c:v>21.4</c:v>
                </c:pt>
                <c:pt idx="9">
                  <c:v>22.13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901A-4045-8753-9E3C362BEA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0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Subscribers</c:v>
                </c:pt>
              </c:strCache>
            </c:strRef>
          </c:tx>
          <c:spPr>
            <a:ln w="38100" cap="flat">
              <a:solidFill>
                <a:srgbClr val="06B6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4</c:v>
                </c:pt>
                <c:pt idx="4">
                  <c:v>6</c:v>
                </c:pt>
                <c:pt idx="5">
                  <c:v>6</c:v>
                </c:pt>
                <c:pt idx="6">
                  <c:v>7</c:v>
                </c:pt>
                <c:pt idx="7">
                  <c:v>5</c:v>
                </c:pt>
                <c:pt idx="8">
                  <c:v>3</c:v>
                </c:pt>
                <c:pt idx="9">
                  <c:v>2</c:v>
                </c:pt>
                <c:pt idx="10">
                  <c:v>3</c:v>
                </c:pt>
                <c:pt idx="11">
                  <c:v>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4A8-4415-BD7C-7C8B5B55D72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Cancellations</c:v>
                </c:pt>
              </c:strCache>
            </c:strRef>
          </c:tx>
          <c:spPr>
            <a:ln w="38100" cap="flat">
              <a:solidFill>
                <a:srgbClr val="E74C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</c:v>
                </c:pt>
                <c:pt idx="1">
                  <c:v>7</c:v>
                </c:pt>
                <c:pt idx="2">
                  <c:v>8</c:v>
                </c:pt>
                <c:pt idx="3">
                  <c:v>8</c:v>
                </c:pt>
                <c:pt idx="4">
                  <c:v>10</c:v>
                </c:pt>
                <c:pt idx="5">
                  <c:v>17</c:v>
                </c:pt>
                <c:pt idx="6">
                  <c:v>18</c:v>
                </c:pt>
                <c:pt idx="7">
                  <c:v>17</c:v>
                </c:pt>
                <c:pt idx="8">
                  <c:v>13</c:v>
                </c:pt>
                <c:pt idx="9">
                  <c:v>14</c:v>
                </c:pt>
                <c:pt idx="10">
                  <c:v>12</c:v>
                </c:pt>
                <c:pt idx="11">
                  <c:v>10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4A8-4415-BD7C-7C8B5B55D72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0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0A2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0A2E"/>
                </a:solidFill>
                <a:latin typeface="Arial"/>
              </a:rPr>
              <a:t>Concurrent Viewer Distribution per Content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Content Titles</c:v>
                </c:pt>
              </c:strCache>
            </c:strRef>
          </c:tx>
          <c:spPr>
            <a:solidFill>
              <a:srgbClr val="E8D5F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08F-4E49-B7B8-A27C7F8F340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08F-4E49-B7B8-A27C7F8F340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F08F-4E49-B7B8-A27C7F8F3400}"/>
              </c:ext>
            </c:extLst>
          </c:dPt>
          <c:dPt>
            <c:idx val="3"/>
            <c:invertIfNegative val="0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08F-4E49-B7B8-A27C7F8F3400}"/>
              </c:ext>
            </c:extLst>
          </c:dPt>
          <c:dPt>
            <c:idx val="4"/>
            <c:invertIfNegative val="0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08F-4E49-B7B8-A27C7F8F3400}"/>
              </c:ext>
            </c:extLst>
          </c:dPt>
          <c:dPt>
            <c:idx val="5"/>
            <c:invertIfNegative val="0"/>
            <c:bubble3D val="0"/>
            <c:spPr>
              <a:solidFill>
                <a:srgbClr val="4C2C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08F-4E49-B7B8-A27C7F8F3400}"/>
              </c:ext>
            </c:extLst>
          </c:dPt>
          <c:dPt>
            <c:idx val="6"/>
            <c:invertIfNegative val="0"/>
            <c:bubble3D val="0"/>
            <c:spPr>
              <a:solidFill>
                <a:srgbClr val="4C2C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08F-4E49-B7B8-A27C7F8F3400}"/>
              </c:ext>
            </c:extLst>
          </c:dPt>
          <c:dPt>
            <c:idx val="7"/>
            <c:invertIfNegative val="0"/>
            <c:bubble3D val="0"/>
            <c:spPr>
              <a:solidFill>
                <a:srgbClr val="2D1B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08F-4E49-B7B8-A27C7F8F3400}"/>
              </c:ext>
            </c:extLst>
          </c:dPt>
          <c:dPt>
            <c:idx val="8"/>
            <c:invertIfNegative val="0"/>
            <c:bubble3D val="0"/>
            <c:spPr>
              <a:solidFill>
                <a:srgbClr val="2D1B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F08F-4E49-B7B8-A27C7F8F340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0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1 View</c:v>
                </c:pt>
                <c:pt idx="1">
                  <c:v>2 Views</c:v>
                </c:pt>
                <c:pt idx="2">
                  <c:v>3 Views</c:v>
                </c:pt>
                <c:pt idx="3">
                  <c:v>4 Views</c:v>
                </c:pt>
                <c:pt idx="4">
                  <c:v>5 Views</c:v>
                </c:pt>
                <c:pt idx="5">
                  <c:v>6 Views</c:v>
                </c:pt>
                <c:pt idx="6">
                  <c:v>7 Views</c:v>
                </c:pt>
                <c:pt idx="7">
                  <c:v>8 Views</c:v>
                </c:pt>
                <c:pt idx="8">
                  <c:v>9 Views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4</c:v>
                </c:pt>
                <c:pt idx="8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F08F-4E49-B7B8-A27C7F8F34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0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Repeat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C2C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0BA-4FE8-B546-E720D62212C3}"/>
              </c:ext>
            </c:extLst>
          </c:dPt>
          <c:dPt>
            <c:idx val="1"/>
            <c:bubble3D val="0"/>
            <c:spPr>
              <a:solidFill>
                <a:srgbClr val="E8D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0BA-4FE8-B546-E720D62212C3}"/>
              </c:ext>
            </c:extLst>
          </c:dPt>
          <c:dLbls>
            <c:dLbl>
              <c:idx val="0"/>
              <c:layout>
                <c:manualLayout>
                  <c:x val="7.716049382716042E-2"/>
                  <c:y val="-6.6137566137566162E-2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0BA-4FE8-B546-E720D62212C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0BA-4FE8-B546-E720D62212C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Repeat Viewers</c:v>
                </c:pt>
                <c:pt idx="1">
                  <c:v>Single View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</c:v>
                </c:pt>
                <c:pt idx="1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0BA-4FE8-B546-E720D62212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00" b="0" i="0" u="none" strike="noStrike" kern="1200" spc="0" baseline="0">
                <a:solidFill>
                  <a:sysClr val="windowText" lastClr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defRPr>
            </a:pPr>
            <a:r>
              <a:rPr lang="en-US" sz="900">
                <a:solidFill>
                  <a:sysClr val="windowText" lastClr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Genre Rank by Engagement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spc="0" baseline="0">
              <a:solidFill>
                <a:sysClr val="windowText" lastClr="0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624825021872265"/>
          <c:y val="0.18097222222222226"/>
          <c:w val="0.79319619422572174"/>
          <c:h val="0.77736111111111106"/>
        </c:manualLayout>
      </c:layout>
      <c:barChart>
        <c:barDir val="bar"/>
        <c:grouping val="clustered"/>
        <c:varyColors val="0"/>
        <c:ser>
          <c:idx val="0"/>
          <c:order val="0"/>
          <c:spPr>
            <a:blipFill>
              <a:blip xmlns:r="http://schemas.openxmlformats.org/officeDocument/2006/relationships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>
              <a:noFill/>
            </a:ln>
            <a:effectLst/>
          </c:spPr>
          <c:invertIfNegative val="0"/>
          <c:pictureOptions>
            <c:pictureFormat val="stackScale"/>
          </c:pictureOptions>
          <c:cat>
            <c:strRef>
              <c:f>Summary!$I$12:$I$21</c:f>
              <c:strCache>
                <c:ptCount val="10"/>
                <c:pt idx="0">
                  <c:v>Rank</c:v>
                </c:pt>
                <c:pt idx="1">
                  <c:v>Musical</c:v>
                </c:pt>
                <c:pt idx="2">
                  <c:v>Horror</c:v>
                </c:pt>
                <c:pt idx="3">
                  <c:v>Documentary</c:v>
                </c:pt>
                <c:pt idx="4">
                  <c:v>Action</c:v>
                </c:pt>
                <c:pt idx="5">
                  <c:v>Kids</c:v>
                </c:pt>
                <c:pt idx="6">
                  <c:v>Biography</c:v>
                </c:pt>
                <c:pt idx="7">
                  <c:v>Drama</c:v>
                </c:pt>
                <c:pt idx="8">
                  <c:v>Sci-Fi</c:v>
                </c:pt>
                <c:pt idx="9">
                  <c:v>Comedy</c:v>
                </c:pt>
              </c:strCache>
            </c:strRef>
          </c:cat>
          <c:val>
            <c:numRef>
              <c:f>Summary!$J$14:$J$21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E8-451F-868C-14C1C66636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9"/>
        <c:axId val="1094619471"/>
        <c:axId val="1094618511"/>
      </c:barChart>
      <c:catAx>
        <c:axId val="10946194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ysClr val="windowText" lastClr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defRPr>
            </a:pPr>
            <a:endParaRPr lang="en-US"/>
          </a:p>
        </c:txPr>
        <c:crossAx val="1094618511"/>
        <c:crosses val="autoZero"/>
        <c:auto val="1"/>
        <c:lblAlgn val="ctr"/>
        <c:lblOffset val="100"/>
        <c:noMultiLvlLbl val="0"/>
      </c:catAx>
      <c:valAx>
        <c:axId val="109461851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94619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7016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4C2C9C">
              <a:alpha val="30000"/>
            </a:srgbClr>
          </a:solidFill>
          <a:ln w="12700">
            <a:solidFill>
              <a:srgbClr val="4C2C9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9B59B6">
              <a:alpha val="40000"/>
            </a:srgbClr>
          </a:solidFill>
          <a:ln w="12700">
            <a:solidFill>
              <a:srgbClr val="9B59B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4C2C9C">
              <a:alpha val="25000"/>
            </a:srgbClr>
          </a:solidFill>
          <a:ln w="12700">
            <a:solidFill>
              <a:srgbClr val="4C2C9C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457200"/>
            <a:ext cx="2194560" cy="411480"/>
          </a:xfrm>
          <a:prstGeom prst="roundRect">
            <a:avLst>
              <a:gd name="adj" fmla="val 22222"/>
            </a:avLst>
          </a:prstGeom>
          <a:solidFill>
            <a:srgbClr val="9B59B6">
              <a:alpha val="80000"/>
            </a:srgbClr>
          </a:solidFill>
          <a:ln w="12700">
            <a:solidFill>
              <a:srgbClr val="9B59B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</a:rPr>
              <a:t>STREAMWAVE  ▶  ANALYTICS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200" b="1" dirty="0">
              <a:solidFill>
                <a:srgbClr val="FFFFFF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Analyzing Viewer Activity:</a:t>
            </a:r>
          </a:p>
          <a:p>
            <a:pPr marL="0" indent="0">
              <a:buNone/>
            </a:pP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E8D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Trends, Engagement &amp;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E8D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Retention Patterns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50" dirty="0">
                <a:solidFill>
                  <a:srgbClr val="F59E0B"/>
                </a:solidFill>
              </a:rPr>
              <a:t>Strategic Content Investment — Media &amp; Entertainment Sector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8046720" cy="0"/>
          </a:xfrm>
          <a:prstGeom prst="line">
            <a:avLst/>
          </a:prstGeom>
          <a:noFill/>
          <a:ln w="6350">
            <a:solidFill>
              <a:srgbClr val="9B59B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</a:rPr>
              <a:t>Data Analyst Report by Cynthia Osewemen |  Streamwave Entertainment Platform</a:t>
            </a:r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Why a data-driven content strategy is now mission-critical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3931920" cy="365760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45920" y="3474720"/>
            <a:ext cx="2286000" cy="2286000"/>
          </a:xfrm>
          <a:prstGeom prst="ellipse">
            <a:avLst/>
          </a:prstGeom>
          <a:solidFill>
            <a:srgbClr val="4C2C9C">
              <a:alpha val="40000"/>
            </a:srgbClr>
          </a:solidFill>
          <a:ln w="12700">
            <a:solidFill>
              <a:srgbClr val="4C2C9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StreamWave's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35661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D5F5"/>
                </a:solidFill>
              </a:rPr>
              <a:t>While StreamWave has seen tremendous growth, competition in the streaming sector has intensified. Content budgets are finite  and every investment must be justified by data.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4074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34840" y="1234440"/>
            <a:ext cx="224028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4C2C9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34840" y="1234440"/>
            <a:ext cx="2240280" cy="384048"/>
          </a:xfrm>
          <a:prstGeom prst="rect">
            <a:avLst/>
          </a:prstGeom>
          <a:solidFill>
            <a:srgbClr val="4C2C9C"/>
          </a:solidFill>
          <a:ln w="12700">
            <a:solidFill>
              <a:srgbClr val="4C2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26280" y="12344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🔀  Fragmented Viewership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26280" y="1673352"/>
            <a:ext cx="20574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0A2E"/>
                </a:solidFill>
              </a:rPr>
              <a:t>Users spread across dozens of genres  hard to identify which truly sustain engagement and justify investment.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66560" y="1234440"/>
            <a:ext cx="224028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766560" y="1234440"/>
            <a:ext cx="224028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0" y="12344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💰  Rising Content Costs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0" y="1673352"/>
            <a:ext cx="20574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0A2E"/>
                </a:solidFill>
              </a:rPr>
              <a:t>High production and licensing costs demand sharper ROI analysis per genre before committing budget.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34840" y="3017520"/>
            <a:ext cx="224028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34840" y="3017520"/>
            <a:ext cx="224028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26280" y="301752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📉  Churn Concerns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26280" y="3456432"/>
            <a:ext cx="20574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0A2E"/>
                </a:solidFill>
              </a:rPr>
              <a:t>Subscribers leave due to mismatches between library content and preferences solvable with better data.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66560" y="3017520"/>
            <a:ext cx="224028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766560" y="3017520"/>
            <a:ext cx="2240280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0" y="301752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⚔️  Competitive Pressure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3456432"/>
            <a:ext cx="20574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0A2E"/>
                </a:solidFill>
              </a:rPr>
              <a:t>Rivals targeting niche genres (anime, true crime) threaten audience share. Must respond with precision.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389120" y="4709160"/>
            <a:ext cx="46634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62272" y="470916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0A2E"/>
                </a:solidFill>
              </a:rPr>
              <a:t>Misallocation of content investment = poor returns, decreased satisfaction &amp; lost market share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4572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" y="192024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8D5F5"/>
                </a:solidFill>
              </a:rPr>
              <a:t>Streamwave serves 999 active users across multiple subscription tiers, achieving an 86% active user rate with Drama and Comedy dominating genre consumption.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" y="4480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08960" y="27432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108960" y="274320"/>
            <a:ext cx="64008" cy="1371600"/>
          </a:xfrm>
          <a:prstGeom prst="rect">
            <a:avLst/>
          </a:prstGeom>
          <a:solidFill>
            <a:srgbClr val="4C2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43891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4C2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999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91840" y="1097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Total Users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27432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035040" y="274320"/>
            <a:ext cx="64008" cy="137160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0" y="43891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9B59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17920" y="1097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Active User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08960" y="182880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08960" y="1828800"/>
            <a:ext cx="64008" cy="13716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0" y="199339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291840" y="2651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Avg Age (years)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82880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35040" y="1828800"/>
            <a:ext cx="64008" cy="1371600"/>
          </a:xfrm>
          <a:prstGeom prst="rect">
            <a:avLst/>
          </a:prstGeom>
          <a:solidFill>
            <a:srgbClr val="5B21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0" y="199339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217920" y="2651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Avg Subscription (mo.)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08960" y="338328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08960" y="3383280"/>
            <a:ext cx="64008" cy="13716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91840" y="354787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3291840" y="4206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Total Genres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338328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35040" y="3383280"/>
            <a:ext cx="64008" cy="13716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17920" y="354787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36%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6217920" y="4206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Content Completion Rate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 Demographics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Understanding who watches and how they subscribe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234440"/>
          <a:ext cx="29260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3200400" y="1234440"/>
          <a:ext cx="29260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6263640" y="1234440"/>
            <a:ext cx="2651760" cy="777240"/>
          </a:xfrm>
          <a:prstGeom prst="rect">
            <a:avLst/>
          </a:prstGeom>
          <a:solidFill>
            <a:srgbClr val="E8D5F5"/>
          </a:solidFill>
          <a:ln w="12700">
            <a:solidFill>
              <a:srgbClr val="E8D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355080" y="12710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4C2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 yrs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6355080" y="163677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Average Viewer Age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263640" y="2194560"/>
            <a:ext cx="2651760" cy="777240"/>
          </a:xfrm>
          <a:prstGeom prst="rect">
            <a:avLst/>
          </a:prstGeom>
          <a:solidFill>
            <a:srgbClr val="E8D5F5"/>
          </a:solidFill>
          <a:ln w="12700">
            <a:solidFill>
              <a:srgbClr val="E8D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355080" y="22311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4C2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 mo.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355080" y="259689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Avg. Subscription Duration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63640" y="3154680"/>
            <a:ext cx="2651760" cy="777240"/>
          </a:xfrm>
          <a:prstGeom prst="rect">
            <a:avLst/>
          </a:prstGeom>
          <a:solidFill>
            <a:srgbClr val="E8D5F5"/>
          </a:solidFill>
          <a:ln w="12700">
            <a:solidFill>
              <a:srgbClr val="E8D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355080" y="31912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4C2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 / 48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355080" y="355701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Female / Male Split (%)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63640" y="4114800"/>
            <a:ext cx="2651760" cy="777240"/>
          </a:xfrm>
          <a:prstGeom prst="rect">
            <a:avLst/>
          </a:prstGeom>
          <a:solidFill>
            <a:srgbClr val="E8D5F5"/>
          </a:solidFill>
          <a:ln w="12700">
            <a:solidFill>
              <a:srgbClr val="E8D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355080" y="415137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4C2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: 1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6355080" y="451713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Engagement-to-Churn Ratio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C2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Genre Popularity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Drama &amp; Comedy lead — Horror &amp; Musical need urgent investment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234440"/>
          <a:ext cx="56692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234440"/>
            <a:ext cx="2788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172200" y="128016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🥇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675120" y="12801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0A2E"/>
                </a:solidFill>
              </a:rPr>
              <a:t>Drama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63840" y="128016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4C2C9C"/>
                </a:solidFill>
              </a:rPr>
              <a:t>22.1%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75120" y="16276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Highest consumed genre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26480" y="2167128"/>
            <a:ext cx="2788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72200" y="2212848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🥈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675120" y="221284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0A2E"/>
                </a:solidFill>
              </a:rPr>
              <a:t>Comedy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63840" y="221284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4C2C9C"/>
                </a:solidFill>
              </a:rPr>
              <a:t>21.4%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675120" y="2560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Near-tied with Drama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26480" y="3099816"/>
            <a:ext cx="2788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72200" y="3145536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675120" y="314553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0A2E"/>
                </a:solidFill>
              </a:rPr>
              <a:t>Horror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863840" y="3145536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4C2C9C"/>
                </a:solidFill>
              </a:rPr>
              <a:t>0.5%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675120" y="34930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Severely under-engaged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126480" y="4032504"/>
            <a:ext cx="2788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172200" y="4078224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675120" y="407822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0A2E"/>
                </a:solidFill>
              </a:rPr>
              <a:t>Thriller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863840" y="4078224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4C2C9C"/>
                </a:solidFill>
              </a:rPr>
              <a:t>0.0%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675120" y="44256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No engagement recorded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Subscription Trends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Cancellations spike mid-year — a critical retention challenge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234440"/>
          <a:ext cx="62179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629400" y="1234440"/>
            <a:ext cx="228600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629400" y="1234440"/>
            <a:ext cx="2286000" cy="3200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67512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PEAK GROWTH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675120" y="158191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0A2E"/>
                </a:solidFill>
              </a:rPr>
              <a:t>July saw 7 new subscribers — the highest acquisition month of the year.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629400" y="2487168"/>
            <a:ext cx="228600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629400" y="2487168"/>
            <a:ext cx="2286000" cy="32004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675120" y="24871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PEAK CHURN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75120" y="28346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0A2E"/>
                </a:solidFill>
              </a:rPr>
              <a:t>June–August cancellations hit 17–18/month, far outpacing new sign-ups.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629400" y="3739896"/>
            <a:ext cx="228600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629400" y="3739896"/>
            <a:ext cx="228600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675120" y="373989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NET DEFICIT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675120" y="4087368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0A2E"/>
                </a:solidFill>
              </a:rPr>
              <a:t>Full-year cancellations (141) vastly exceed new subscribers (51), a 2.76× gap.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Engagement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Concurrent viewing patterns &amp; repeat content consumption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23444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1234440"/>
            <a:ext cx="3429000" cy="132588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0" y="132588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517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486400" y="21031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D5F5"/>
                </a:solidFill>
              </a:rPr>
              <a:t>Repeat Views Per Content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0" y="2697480"/>
            <a:ext cx="3429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10" name="Chart 1"/>
          <p:cNvGraphicFramePr/>
          <p:nvPr>
            <p:extLst>
              <p:ext uri="{D42A27DB-BD31-4B8C-83A1-F6EECF244321}">
                <p14:modId xmlns:p14="http://schemas.microsoft.com/office/powerpoint/2010/main" val="3212993110"/>
              </p:ext>
            </p:extLst>
          </p:nvPr>
        </p:nvGraphicFramePr>
        <p:xfrm>
          <a:off x="5486400" y="2697480"/>
          <a:ext cx="1645920" cy="960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7178040" y="2715768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2C9C"/>
                </a:solidFill>
              </a:rPr>
              <a:t>36%</a:t>
            </a:r>
            <a:endParaRPr lang="en-US" sz="1800" dirty="0"/>
          </a:p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Repeat Viewers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>
                <a:solidFill>
                  <a:srgbClr val="64748B"/>
                </a:solidFill>
              </a:rPr>
              <a:t>64%</a:t>
            </a:r>
            <a:endParaRPr lang="en-US" sz="1800" dirty="0"/>
          </a:p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Single-view users</a:t>
            </a:r>
            <a:endParaRPr lang="en-US" sz="1800" b="1" dirty="0"/>
          </a:p>
        </p:txBody>
      </p:sp>
      <p:sp>
        <p:nvSpPr>
          <p:cNvPr id="12" name="Shape 8"/>
          <p:cNvSpPr/>
          <p:nvPr/>
        </p:nvSpPr>
        <p:spPr>
          <a:xfrm>
            <a:off x="5486400" y="3840480"/>
            <a:ext cx="342900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577840" y="3867912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A2E"/>
                </a:solidFill>
              </a:rPr>
              <a:t>💡  60 content titles consumed per user on average — indicating strong library depth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Genre Rank by Engagement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Viewer satisfaction signals by genre — where to double down vs. divest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0" y="1261872"/>
            <a:ext cx="3200400" cy="256032"/>
          </a:xfrm>
          <a:prstGeom prst="rect">
            <a:avLst/>
          </a:prstGeom>
          <a:solidFill>
            <a:srgbClr val="E8D5F5"/>
          </a:solidFill>
          <a:ln w="12700">
            <a:solidFill>
              <a:srgbClr val="E8D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0" y="1261872"/>
            <a:ext cx="2688336" cy="256032"/>
          </a:xfrm>
          <a:prstGeom prst="rect">
            <a:avLst/>
          </a:prstGeom>
          <a:solidFill>
            <a:srgbClr val="2D1B69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0" y="1188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0A2E"/>
                </a:solidFill>
              </a:rPr>
              <a:t>1. Drama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863840" y="118872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1B69"/>
                </a:solidFill>
              </a:rPr>
              <a:t>4.2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0" y="1655064"/>
            <a:ext cx="3200400" cy="256032"/>
          </a:xfrm>
          <a:prstGeom prst="rect">
            <a:avLst/>
          </a:prstGeom>
          <a:solidFill>
            <a:srgbClr val="E8D5F5"/>
          </a:solidFill>
          <a:ln w="12700">
            <a:solidFill>
              <a:srgbClr val="E8D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0" y="1655064"/>
            <a:ext cx="2432304" cy="256032"/>
          </a:xfrm>
          <a:prstGeom prst="rect">
            <a:avLst/>
          </a:prstGeom>
          <a:solidFill>
            <a:srgbClr val="2D1B69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0" y="15819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0A2E"/>
                </a:solidFill>
              </a:rPr>
              <a:t>2. Comedy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863840" y="158191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1B69"/>
                </a:solidFill>
              </a:rPr>
              <a:t>3.8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0" y="2048256"/>
            <a:ext cx="3200400" cy="256032"/>
          </a:xfrm>
          <a:prstGeom prst="rect">
            <a:avLst/>
          </a:prstGeom>
          <a:solidFill>
            <a:srgbClr val="E8D5F5"/>
          </a:solidFill>
          <a:ln w="12700">
            <a:solidFill>
              <a:srgbClr val="E8D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572000" y="2048256"/>
            <a:ext cx="2240280" cy="256032"/>
          </a:xfrm>
          <a:prstGeom prst="rect">
            <a:avLst/>
          </a:prstGeom>
          <a:solidFill>
            <a:srgbClr val="2D1B69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572000" y="19751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0A2E"/>
                </a:solidFill>
              </a:rPr>
              <a:t>3. Biography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863840" y="197510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1B69"/>
                </a:solidFill>
              </a:rPr>
              <a:t>3.5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0" y="2441448"/>
            <a:ext cx="3200400" cy="256032"/>
          </a:xfrm>
          <a:prstGeom prst="rect">
            <a:avLst/>
          </a:prstGeom>
          <a:solidFill>
            <a:srgbClr val="E8D5F5"/>
          </a:solidFill>
          <a:ln w="12700">
            <a:solidFill>
              <a:srgbClr val="E8D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572000" y="2441448"/>
            <a:ext cx="1920240" cy="256032"/>
          </a:xfrm>
          <a:prstGeom prst="rect">
            <a:avLst/>
          </a:prstGeom>
          <a:solidFill>
            <a:srgbClr val="4C2C9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572000" y="236829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0A2E"/>
                </a:solidFill>
              </a:rPr>
              <a:t>4. Kids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863840" y="236829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0" y="2834640"/>
            <a:ext cx="3200400" cy="256032"/>
          </a:xfrm>
          <a:prstGeom prst="rect">
            <a:avLst/>
          </a:prstGeom>
          <a:solidFill>
            <a:srgbClr val="E8D5F5"/>
          </a:solidFill>
          <a:ln w="12700">
            <a:solidFill>
              <a:srgbClr val="E8D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572000" y="2834640"/>
            <a:ext cx="1728216" cy="256032"/>
          </a:xfrm>
          <a:prstGeom prst="rect">
            <a:avLst/>
          </a:prstGeom>
          <a:solidFill>
            <a:srgbClr val="4C2C9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572000" y="27614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0A2E"/>
                </a:solidFill>
              </a:rPr>
              <a:t>5. Action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863840" y="276148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2.7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0" y="3227832"/>
            <a:ext cx="3200400" cy="256032"/>
          </a:xfrm>
          <a:prstGeom prst="rect">
            <a:avLst/>
          </a:prstGeom>
          <a:solidFill>
            <a:srgbClr val="E8D5F5"/>
          </a:solidFill>
          <a:ln w="12700">
            <a:solidFill>
              <a:srgbClr val="E8D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572000" y="3227832"/>
            <a:ext cx="1600200" cy="256032"/>
          </a:xfrm>
          <a:prstGeom prst="rect">
            <a:avLst/>
          </a:prstGeom>
          <a:solidFill>
            <a:srgbClr val="4C2C9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572000" y="31546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0A2E"/>
                </a:solidFill>
              </a:rPr>
              <a:t>6. Sci-Fi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863840" y="315468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2.5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0" y="3621024"/>
            <a:ext cx="3200400" cy="256032"/>
          </a:xfrm>
          <a:prstGeom prst="rect">
            <a:avLst/>
          </a:prstGeom>
          <a:solidFill>
            <a:srgbClr val="E8D5F5"/>
          </a:solidFill>
          <a:ln w="12700">
            <a:solidFill>
              <a:srgbClr val="E8D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572000" y="3621024"/>
            <a:ext cx="1344168" cy="256032"/>
          </a:xfrm>
          <a:prstGeom prst="rect">
            <a:avLst/>
          </a:prstGeom>
          <a:solidFill>
            <a:srgbClr val="9B59B6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572000" y="35478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0A2E"/>
                </a:solidFill>
              </a:rPr>
              <a:t>7. Documentary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863840" y="354787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2.1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0" y="4014216"/>
            <a:ext cx="3200400" cy="256032"/>
          </a:xfrm>
          <a:prstGeom prst="rect">
            <a:avLst/>
          </a:prstGeom>
          <a:solidFill>
            <a:srgbClr val="E8D5F5"/>
          </a:solidFill>
          <a:ln w="12700">
            <a:solidFill>
              <a:srgbClr val="E8D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572000" y="4014216"/>
            <a:ext cx="1152144" cy="256032"/>
          </a:xfrm>
          <a:prstGeom prst="rect">
            <a:avLst/>
          </a:prstGeom>
          <a:solidFill>
            <a:srgbClr val="9B59B6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572000" y="394106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0A2E"/>
                </a:solidFill>
              </a:rPr>
              <a:t>8. Horror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863840" y="394106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1.8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572000" y="4407408"/>
            <a:ext cx="3200400" cy="256032"/>
          </a:xfrm>
          <a:prstGeom prst="rect">
            <a:avLst/>
          </a:prstGeom>
          <a:solidFill>
            <a:srgbClr val="E8D5F5"/>
          </a:solidFill>
          <a:ln w="12700">
            <a:solidFill>
              <a:srgbClr val="E8D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4572000" y="4407408"/>
            <a:ext cx="768096" cy="256032"/>
          </a:xfrm>
          <a:prstGeom prst="rect">
            <a:avLst/>
          </a:prstGeom>
          <a:solidFill>
            <a:srgbClr val="9B59B6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572000" y="433425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0A2E"/>
                </a:solidFill>
              </a:rPr>
              <a:t>9. Musical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863840" y="433425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1.2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572000" y="4800600"/>
            <a:ext cx="3200400" cy="256032"/>
          </a:xfrm>
          <a:prstGeom prst="rect">
            <a:avLst/>
          </a:prstGeom>
          <a:solidFill>
            <a:srgbClr val="E8D5F5"/>
          </a:solidFill>
          <a:ln w="12700">
            <a:solidFill>
              <a:srgbClr val="E8D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4572000" y="4800600"/>
            <a:ext cx="512064" cy="256032"/>
          </a:xfrm>
          <a:prstGeom prst="rect">
            <a:avLst/>
          </a:prstGeom>
          <a:solidFill>
            <a:srgbClr val="9B59B6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4572000" y="47274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0A2E"/>
                </a:solidFill>
              </a:rPr>
              <a:t>10. Thriller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7863840" y="472744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0.8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57200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Engagement Score (0–5)</a:t>
            </a:r>
            <a:endParaRPr lang="en-US" sz="900" dirty="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CEDA714E-03F4-A005-BE0F-1DD9C53F4CA1}"/>
              </a:ext>
            </a:extLst>
          </p:cNvPr>
          <p:cNvSpPr/>
          <p:nvPr/>
        </p:nvSpPr>
        <p:spPr>
          <a:xfrm>
            <a:off x="151254" y="1188720"/>
            <a:ext cx="3140586" cy="3867912"/>
          </a:xfrm>
          <a:prstGeom prst="roundRect">
            <a:avLst>
              <a:gd name="adj" fmla="val 3411"/>
            </a:avLst>
          </a:prstGeom>
          <a:solidFill>
            <a:srgbClr val="B892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/>
          </a:p>
        </p:txBody>
      </p:sp>
      <p:graphicFrame>
        <p:nvGraphicFramePr>
          <p:cNvPr id="49" name="Chart 48">
            <a:extLst>
              <a:ext uri="{FF2B5EF4-FFF2-40B4-BE49-F238E27FC236}">
                <a16:creationId xmlns:a16="http://schemas.microsoft.com/office/drawing/2014/main" id="{60753866-78FB-C594-055B-DDC17D7AAE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1523685"/>
              </p:ext>
            </p:extLst>
          </p:nvPr>
        </p:nvGraphicFramePr>
        <p:xfrm>
          <a:off x="203180" y="1195080"/>
          <a:ext cx="2997220" cy="3977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200400"/>
            <a:ext cx="3200400" cy="3200400"/>
          </a:xfrm>
          <a:prstGeom prst="ellipse">
            <a:avLst/>
          </a:prstGeom>
          <a:solidFill>
            <a:srgbClr val="4C2C9C">
              <a:alpha val="20000"/>
            </a:srgbClr>
          </a:solidFill>
          <a:ln w="12700">
            <a:solidFill>
              <a:srgbClr val="4C2C9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9B59B6">
              <a:alpha val="20000"/>
            </a:srgbClr>
          </a:solidFill>
          <a:ln w="12700">
            <a:solidFill>
              <a:srgbClr val="9B59B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Recommendations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1"/>
                </a:solidFill>
              </a:rPr>
              <a:t>Actionable insights to drive growth, reduce churn &amp; optimize content ROI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251960" cy="1097280"/>
          </a:xfrm>
          <a:prstGeom prst="rect">
            <a:avLst/>
          </a:prstGeom>
          <a:solidFill>
            <a:srgbClr val="FFFFFF">
              <a:alpha val="95000"/>
            </a:srgbClr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457200" cy="1097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325880"/>
            <a:ext cx="45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/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39903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/>
              <a:t>Prioritize Drama &amp; Comedy Content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746504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/>
              <a:t>Invest 40–45% of content budget in Drama and Comedy acquisitions. These two genres command 43.5% of all views and show strong repeat engagement.</a:t>
            </a:r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4251960" cy="1097280"/>
          </a:xfrm>
          <a:prstGeom prst="rect">
            <a:avLst/>
          </a:prstGeom>
          <a:solidFill>
            <a:srgbClr val="FFFFFF">
              <a:alpha val="95000"/>
            </a:srgbClr>
          </a:solidFill>
          <a:ln w="1524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1325880"/>
            <a:ext cx="457200" cy="10972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1325880"/>
            <a:ext cx="45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/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57800" y="139903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/>
              <a:t>Implement Mid-Year Retention Campaign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57800" y="1746504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/>
              <a:t>Launch targeted retention offers (discounts, exclusive content drops) in May–June to counteract the June–August cancellation spike of 17–18 monthly exits.</a:t>
            </a:r>
          </a:p>
        </p:txBody>
      </p:sp>
      <p:sp>
        <p:nvSpPr>
          <p:cNvPr id="16" name="Shape 14"/>
          <p:cNvSpPr/>
          <p:nvPr/>
        </p:nvSpPr>
        <p:spPr>
          <a:xfrm>
            <a:off x="274320" y="2587752"/>
            <a:ext cx="4251960" cy="1097280"/>
          </a:xfrm>
          <a:prstGeom prst="rect">
            <a:avLst/>
          </a:prstGeom>
          <a:solidFill>
            <a:srgbClr val="FFFFFF">
              <a:alpha val="95000"/>
            </a:srgbClr>
          </a:solidFill>
          <a:ln w="1524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587752"/>
            <a:ext cx="457200" cy="109728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587752"/>
            <a:ext cx="45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/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266090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/>
              <a:t>Develop Sci-Fi &amp; Documentary Originals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008376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/>
              <a:t>Sci-Fi (14.5%) and Documentary (17.2%) show solid viewership but lower engagement scores. Original content investment here can build loyalty and differentiate from competitors.</a:t>
            </a:r>
          </a:p>
        </p:txBody>
      </p:sp>
      <p:sp>
        <p:nvSpPr>
          <p:cNvPr id="21" name="Shape 19"/>
          <p:cNvSpPr/>
          <p:nvPr/>
        </p:nvSpPr>
        <p:spPr>
          <a:xfrm>
            <a:off x="4709160" y="2587752"/>
            <a:ext cx="4251960" cy="1097280"/>
          </a:xfrm>
          <a:prstGeom prst="rect">
            <a:avLst/>
          </a:prstGeom>
          <a:solidFill>
            <a:srgbClr val="FFFFFF">
              <a:alpha val="95000"/>
            </a:srgbClr>
          </a:solidFill>
          <a:ln w="1524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2587752"/>
            <a:ext cx="457200" cy="109728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09160" y="2587752"/>
            <a:ext cx="45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/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266090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/>
              <a:t>Evaluate or Exit Horror, Musical &amp; Thriller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57800" y="3008376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/>
              <a:t>With &lt;1% combined viewership, Horror, Musical, and Thriller deliver minimal ROI. Consider licensing-only model or complete removal to reinvest budget into high-performing genres.</a:t>
            </a:r>
          </a:p>
        </p:txBody>
      </p:sp>
      <p:sp>
        <p:nvSpPr>
          <p:cNvPr id="26" name="Shape 24"/>
          <p:cNvSpPr/>
          <p:nvPr/>
        </p:nvSpPr>
        <p:spPr>
          <a:xfrm>
            <a:off x="274320" y="3849624"/>
            <a:ext cx="4251960" cy="1097280"/>
          </a:xfrm>
          <a:prstGeom prst="rect">
            <a:avLst/>
          </a:prstGeom>
          <a:solidFill>
            <a:srgbClr val="FFFFFF">
              <a:alpha val="95000"/>
            </a:srgbClr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3849624"/>
            <a:ext cx="457200" cy="1097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3849624"/>
            <a:ext cx="45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/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392277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/>
              <a:t>Convert Basic Users to Premium Tier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4270248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/>
              <a:t>Target the Basic tier majority with personalized upsell campaigns — premium features and exclusive early access can significantly boost ARPU and reduce churn sensitivity.</a:t>
            </a:r>
          </a:p>
        </p:txBody>
      </p:sp>
      <p:sp>
        <p:nvSpPr>
          <p:cNvPr id="31" name="Shape 29"/>
          <p:cNvSpPr/>
          <p:nvPr/>
        </p:nvSpPr>
        <p:spPr>
          <a:xfrm>
            <a:off x="4709160" y="3849624"/>
            <a:ext cx="4251960" cy="1097280"/>
          </a:xfrm>
          <a:prstGeom prst="rect">
            <a:avLst/>
          </a:prstGeom>
          <a:solidFill>
            <a:srgbClr val="FFFFFF">
              <a:alpha val="95000"/>
            </a:srgbClr>
          </a:solidFill>
          <a:ln w="15240">
            <a:solidFill>
              <a:srgbClr val="4C2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09160" y="3849624"/>
            <a:ext cx="457200" cy="1097280"/>
          </a:xfrm>
          <a:prstGeom prst="rect">
            <a:avLst/>
          </a:prstGeom>
          <a:solidFill>
            <a:srgbClr val="4C2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09160" y="3849624"/>
            <a:ext cx="45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/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57800" y="392277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/>
              <a:t>Leverage the 36% Repeat Viewer Segment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57800" y="4270248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/>
              <a:t>Build loyalty programs, binge-incentive badges, and curated sequel/companion content pathways to deepen engagement among the repeat viewer 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4C2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3200400"/>
            <a:ext cx="3200400" cy="3200400"/>
          </a:xfrm>
          <a:prstGeom prst="ellipse">
            <a:avLst/>
          </a:prstGeom>
          <a:solidFill>
            <a:srgbClr val="2D1B69">
              <a:alpha val="60000"/>
            </a:srgbClr>
          </a:solidFill>
          <a:ln w="12700">
            <a:solidFill>
              <a:srgbClr val="2D1B6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Call to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23774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D5F5"/>
                </a:solidFill>
              </a:rPr>
              <a:t>The data is clear — Streamwave has a strong engaged core, but needs focused investment in retention strategy and content portfolio optimization.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42976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</a:rPr>
              <a:t>Prepared by: Cynthia Osewemen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 err="1">
                <a:solidFill>
                  <a:srgbClr val="F59E0B"/>
                </a:solidFill>
              </a:rPr>
              <a:t>Streamwave</a:t>
            </a:r>
            <a:r>
              <a:rPr lang="en-US" sz="1000" dirty="0">
                <a:solidFill>
                  <a:srgbClr val="F59E0B"/>
                </a:solidFill>
              </a:rPr>
              <a:t> Entertainment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89120" y="3657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1B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297680" y="1005840"/>
            <a:ext cx="4617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43400" y="1024128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46320" y="104241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2E"/>
                </a:solidFill>
              </a:rPr>
              <a:t>86% active user rate signals strong platform health, but the Engagement-to-Churn ratio demands immediate attention.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1801368"/>
            <a:ext cx="4617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43400" y="1819656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46320" y="183794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2E"/>
                </a:solidFill>
              </a:rPr>
              <a:t>Drama and Comedy are the platform's twin engines — protect and expand these libraries first.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0" y="2596896"/>
            <a:ext cx="4617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43400" y="2615184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46320" y="2633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2E"/>
                </a:solidFill>
              </a:rPr>
              <a:t>The June–August cancellation crisis (17–18/mo.) requires a proactive seasonal retention campaign.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7680" y="3392424"/>
            <a:ext cx="4617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43400" y="3410712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46320" y="34290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2E"/>
                </a:solidFill>
              </a:rPr>
              <a:t>Horror, Musical, and Thriller genres collectively hold &lt;0.7% viewership — a clear case for content divestment.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0" y="4187952"/>
            <a:ext cx="4617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43400" y="420624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46320" y="422452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2E"/>
                </a:solidFill>
              </a:rPr>
              <a:t>Converting Basic-tier users to Premium and deepening repeat-viewer loyalty are the fastest paths to ARPU growth.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4766</TotalTime>
  <Words>838</Words>
  <Application>Microsoft Office PowerPoint</Application>
  <PresentationFormat>On-screen Show (16:9)</PresentationFormat>
  <Paragraphs>163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ADLaM Display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Streamwave Viewer Engagement Analysis</dc:title>
  <dc:subject>PptxGenJS Presentation</dc:subject>
  <dc:creator>PptxGenJS</dc:creator>
  <cp:lastModifiedBy>cynthia osewemen</cp:lastModifiedBy>
  <cp:revision>4</cp:revision>
  <dcterms:created xsi:type="dcterms:W3CDTF">2026-05-05T20:28:35Z</dcterms:created>
  <dcterms:modified xsi:type="dcterms:W3CDTF">2026-05-09T14:16:37Z</dcterms:modified>
</cp:coreProperties>
</file>